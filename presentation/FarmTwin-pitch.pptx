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FarmTwin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E6F0EA"/>
                </a:solidFill>
                <a:latin typeface="Calibri"/>
              </a:rPr>
              <a:t>Agri Digital-Twin &amp; Precision-Operations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83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Simulate every field. Irrigate by need, not by habit.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26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FDED5"/>
                </a:solidFill>
                <a:latin typeface="Calibri"/>
              </a:rPr>
              <a:t>Live pilot: 15-acre farm, Eruthempathy, Chittur (Palakkad) | KSUM / AgriNext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Kerala's rain-shadow belt: water arrived, scheduling did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Chittur (Palakkad) gets ~1,000-1,250 mm rain vs the state's ~3,000 mm.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The 2025 Moolathara canal extension now serves ~3,575 ha with drip/lift water.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But farmers still irrigate by calendar and habit, not by crop-and-soil need: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A6772"/>
                </a:solidFill>
                <a:latin typeface="Calibri"/>
              </a:rPr>
              <a:t>-  Over-irrigation wastes the scarce canal water just secured.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A6772"/>
                </a:solidFill>
                <a:latin typeface="Calibri"/>
              </a:rPr>
              <a:t>-  Under-irrigation causes crop stress and yield loss.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No plot-level, day-by-day decision tool exists for this microclimate.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FPOs have no shared layer to budget water or plan harvests across 650+ 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Quantified Pain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Why the bottleneck is now optimization, not availability.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454298" cy="301752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54298" cy="73152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45429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1B7A43"/>
                </a:solidFill>
                <a:latin typeface="Calibri"/>
              </a:rPr>
              <a:t>30-50%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299709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32B33"/>
                </a:solidFill>
                <a:latin typeface="Calibri"/>
              </a:rPr>
              <a:t>of applied water wasted by flood/over-irrigation vs precise scheduling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194560"/>
            <a:ext cx="3454298" cy="301752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2194560"/>
            <a:ext cx="3454298" cy="73152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2834640"/>
            <a:ext cx="345429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1B7A43"/>
                </a:solidFill>
                <a:latin typeface="Calibri"/>
              </a:rPr>
              <a:t>10-25%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3931920"/>
            <a:ext cx="299709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32B33"/>
                </a:solidFill>
                <a:latin typeface="Calibri"/>
              </a:rPr>
              <a:t>of potential yield lost to mistimed irrigation &amp; nutrient stress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8756" y="2194560"/>
            <a:ext cx="3454298" cy="301752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8756" y="2194560"/>
            <a:ext cx="3454298" cy="73152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8756" y="2834640"/>
            <a:ext cx="345429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1B7A43"/>
                </a:solidFill>
                <a:latin typeface="Calibri"/>
              </a:rPr>
              <a:t>~30%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7356" y="3931920"/>
            <a:ext cx="299709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32B33"/>
                </a:solidFill>
                <a:latin typeface="Calibri"/>
              </a:rPr>
              <a:t>of manual irrigation labour reducible with scheduled precision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A farm digital twin built on a physics + agronomy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Discretize a field into a computational mesh of zones - like a finite-element mesh.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A time-stepped water-balance + crop-growth solver advances each zone, day by day.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Ingests soil type, crop, emitter layout, weather/ET and low-cost soil-moisture data.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Answers per zone, per day: irrigate or not, how many litres, and why.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Optimizes the irrigation/fertigation schedule to minimize water &amp; cost at target yield.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Run what-if scenarios (flood vs drip vs optimized, heat wave) before acting in the 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It's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20 years of CAE / simulation, re-pointed at agriculture.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53912" y="1783080"/>
            <a:ext cx="5486400" cy="457200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CAE / simulation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181051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FarmTwin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915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235915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5915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Meshing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35915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Discretize the farm into adaptive irrigation/soil zones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3639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313639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3639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FE / CFD field solvers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313639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Water-balance + moisture &amp; nutrient transport across the mesh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1363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391363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91363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Assembly-line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91363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Time-stepped scheduling under a daily water budget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9087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469087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69087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DOE &amp;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69087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What-if scenarios + optimal irrigation/fertigation schedules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6811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546811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46811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Validation vs test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46811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Calibrate the twin against sensors &amp; observed yield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9107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7A43"/>
                </a:solidFill>
                <a:latin typeface="Calibri"/>
              </a:rPr>
              <a:t>The moat is the calibrated simulation engine - not another IoT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Two Products, One Shared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A calibration feedback loop that compounds over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53912" y="1783080"/>
            <a:ext cx="5486400" cy="457200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FarmTwin Studio (pre-install)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181051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FarmTwin Runtime (operations)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915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235915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5915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Used once, before installation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35915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Runs continuously, after installation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3639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313639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3639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Survey -&gt; simulate -&gt; 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313639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Sense -&gt; decide -&gt; actuate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1363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391363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91363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Recommends top 2-3 designs, BoM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91363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Live control, twin state, alerts, yield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9087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469087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69087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Designer / agronomist / dealer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69087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Farmer / FPO operator (autonomous)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138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7A43"/>
                </a:solidFill>
                <a:latin typeface="Calibri"/>
              </a:rPr>
              <a:t>Shared FarmTwin Engine (krishiflow): Runtime re-estimates parameters and feeds Studio - designs keep improving.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Product &amp;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A working prototype already demonstrates the core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Web app: a farm is a mesh of zones; each zone is modelled and solved daily.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Scenario comparison - flood vs uniform drip vs twin-optimized.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Outputs: water saved, stress-days avoided, projected yield.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Hardware-light: cheap/existing soil &amp; weather sensors + free weather/ET data.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MVP runs in any browser (mvp/index.html) - no build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Market &amp; Beachhead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One FPO sale reaches hundreds of farmers.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Primary pilot: founder's 15-acre farm + 8-12 neighbouring vegetable/mango farmers.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Beachhead buyer: FPOs / FPCs in the Chittur rain-shadow cluster (1,500+ farmers, 650 ha).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A6772"/>
                </a:solidFill>
                <a:latin typeface="Calibri"/>
              </a:rPr>
              <a:t>-  Routed through the World Bank KERA / AgriNext program.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Scale buyer: Krishi Bhavans &amp; Dept. of Agriculture in other rain-shadow districts.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Phase 2: lenders, insurers and input suppliers buying the data/risk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Three tailwinds line up in 2025-2026.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Canal water arrived in 2025 - scheduling is suddenly the binding constraint.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World Bank KERA / AgriNext (2026) is funding &amp; distributing exactly this category to FPOs.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Cheap soil/weather sensing + free ET data make a software-led, hardware-light product viable.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Pilot &amp; Traction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Milestone-disbursed, verifiable success criteria.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M1 (month 2): sensors deployed on pilot farm; twin ingesting live data.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M2 (month 4): solver calibrated to a defined soil-moisture error band.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M3 (month 6): scenario engine shows &gt;=30% water saving; 1 signed FPO pilot MoU.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Target: &gt;=30% simulated water saving vs flood baseline at equal yield.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Funding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Sequence non-dilutive money first; prove traction, then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1. Idea Grant - up to Rs.3L (MVP + pilot plan).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2. AgriNext / KERA pilot - up to Rs.25L (FPO match).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3. Productisation Grant - up to Rs.7L (MVP -&gt; product).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4. Seed Fund / Seed Loan - up to Rs.15L (soft loan vs orders).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5. Scale-up Seed Fund - up to Rs.25L (repeatable paid deployments).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32B33"/>
                </a:solidFill>
                <a:latin typeface="Calibri"/>
              </a:rPr>
              <a:t>▸  6. KERA Productive Alliance - up to Rs.2cr (FPC alliance, 60% matching).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Use of Funds &amp;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8ECDF"/>
                </a:solidFill>
                <a:latin typeface="Calibri"/>
              </a:rPr>
              <a:t>KSUM Idea Grant: Rs.3,00,000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53912" y="1783080"/>
            <a:ext cx="5486400" cy="457200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1810512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Amount (Rs.)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915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235915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5915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Field instrumentation (sensors, gateway)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35915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90,000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3639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313639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3639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Cloud + dev tooling (12 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313639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60,000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1363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391363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91363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Solver/MVP hardening (contractor 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91363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90,000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9087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4690872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69087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Calibration &amp; field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69087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45,000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6811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5468112"/>
            <a:ext cx="5486400" cy="6583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46811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2B33"/>
                </a:solidFill>
                <a:latin typeface="Calibri"/>
              </a:rPr>
              <a:t>IP / legal (patent search, incorporation)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468112"/>
            <a:ext cx="515721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B33"/>
                </a:solidFill>
                <a:latin typeface="Calibri"/>
              </a:rPr>
              <a:t>15,000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9107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7A43"/>
                </a:solidFill>
                <a:latin typeface="Calibri"/>
              </a:rPr>
              <a:t>Ask: Rs.3 lakh Idea Grant + KSUM incubation + AgriNext deployment introductions.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FarmTwin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E6F0EA"/>
                </a:solidFill>
                <a:latin typeface="Calibri"/>
              </a:rPr>
              <a:t>I have spent 20 years meshing and simulating physical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83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 farm is just another domain to mesh and solve - and I own the test rig.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26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FDED5"/>
                </a:solidFill>
                <a:latin typeface="Calibri"/>
              </a:rPr>
              <a:t>FarmTwin Studio  -  FarmTwin Runtime  -  FarmTwin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